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51" name="Group 450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52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3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4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5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6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7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8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9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0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1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2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3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4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5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6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7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1283114" y="1168329"/>
            <a:ext cx="6586124" cy="4537816"/>
            <a:chOff x="1283114" y="1168329"/>
            <a:chExt cx="6586124" cy="4537816"/>
          </a:xfrm>
        </p:grpSpPr>
        <p:sp>
          <p:nvSpPr>
            <p:cNvPr id="39" name="Rectangle 38"/>
            <p:cNvSpPr/>
            <p:nvPr/>
          </p:nvSpPr>
          <p:spPr>
            <a:xfrm>
              <a:off x="1283114" y="1168329"/>
              <a:ext cx="658612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1" name="Rectangle 40"/>
            <p:cNvSpPr/>
            <p:nvPr/>
          </p:nvSpPr>
          <p:spPr>
            <a:xfrm>
              <a:off x="1283114" y="1973001"/>
              <a:ext cx="658612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1" name="Isosceles Triangle 39"/>
            <p:cNvSpPr/>
            <p:nvPr/>
          </p:nvSpPr>
          <p:spPr>
            <a:xfrm rot="10800000">
              <a:off x="4362524" y="5355082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091" y="2055278"/>
            <a:ext cx="6428445" cy="1810636"/>
          </a:xfrm>
        </p:spPr>
        <p:txBody>
          <a:bodyPr bIns="0" anchor="b">
            <a:normAutofit/>
          </a:bodyPr>
          <a:lstStyle>
            <a:lvl1pPr algn="ctr">
              <a:lnSpc>
                <a:spcPct val="80000"/>
              </a:lnSpc>
              <a:defRPr sz="4800" spc="-113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59091" y="3941492"/>
            <a:ext cx="6428445" cy="1334120"/>
          </a:xfrm>
        </p:spPr>
        <p:txBody>
          <a:bodyPr t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800" b="0">
                <a:solidFill>
                  <a:srgbClr val="FFFEFF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 vert="horz" lIns="91440" tIns="45720" rIns="91440" bIns="45720" rtlCol="0" anchor="ctr"/>
          <a:lstStyle>
            <a:lvl1pPr>
              <a:defRPr lang="en-US"/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532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5" name="Group 6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6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20" name="Group 1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21" name="Rectangle 2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8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7" y="803186"/>
            <a:ext cx="4091410" cy="5248622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218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4" name="Group 773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775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6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7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8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79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0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1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2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3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4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5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6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7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8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9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0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7" name="Group 6"/>
          <p:cNvGrpSpPr/>
          <p:nvPr/>
        </p:nvGrpSpPr>
        <p:grpSpPr>
          <a:xfrm>
            <a:off x="2403476" y="1158902"/>
            <a:ext cx="4317684" cy="4537816"/>
            <a:chOff x="2403476" y="1158902"/>
            <a:chExt cx="4317684" cy="4537816"/>
          </a:xfrm>
        </p:grpSpPr>
        <p:sp>
          <p:nvSpPr>
            <p:cNvPr id="28" name="Rectangle 27"/>
            <p:cNvSpPr/>
            <p:nvPr/>
          </p:nvSpPr>
          <p:spPr>
            <a:xfrm>
              <a:off x="2403476" y="1158902"/>
              <a:ext cx="4317684" cy="731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2403476" y="1963574"/>
              <a:ext cx="4317684" cy="3384463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73" name="Isosceles Triangle 28"/>
            <p:cNvSpPr/>
            <p:nvPr/>
          </p:nvSpPr>
          <p:spPr>
            <a:xfrm rot="10800000">
              <a:off x="4358702" y="5345655"/>
              <a:ext cx="407233" cy="35106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148" y="2028827"/>
            <a:ext cx="4162952" cy="1732474"/>
          </a:xfrm>
        </p:spPr>
        <p:txBody>
          <a:bodyPr bIns="0" anchor="b">
            <a:normAutofit/>
          </a:bodyPr>
          <a:lstStyle>
            <a:lvl1pPr algn="ctr">
              <a:defRPr sz="36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148" y="3843338"/>
            <a:ext cx="4162952" cy="1426097"/>
          </a:xfrm>
        </p:spPr>
        <p:txBody>
          <a:bodyPr tIns="0">
            <a:normAutofit/>
          </a:bodyPr>
          <a:lstStyle>
            <a:lvl1pPr marL="0" indent="0" algn="ctr">
              <a:buNone/>
              <a:defRPr sz="1600">
                <a:solidFill>
                  <a:srgbClr val="FFFEFF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98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40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4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62" name="Group 6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3" name="Rectangle 6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5" name="Rectangle 6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068"/>
            <a:ext cx="3122163" cy="245980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23014" y="804029"/>
            <a:ext cx="4091674" cy="24593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20283" y="3585104"/>
            <a:ext cx="4094404" cy="247064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2057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" name="Group 37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39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0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1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2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5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6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7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8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9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0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1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2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59" name="Group 58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60" name="Rectangle 59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2" name="Rectangle 61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952" y="2355848"/>
            <a:ext cx="3122163" cy="2459028"/>
          </a:xfrm>
        </p:spPr>
        <p:txBody>
          <a:bodyPr lIns="91440" tIns="91440" rIns="91440" bIns="91440"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06612" y="802200"/>
            <a:ext cx="3805123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6636" y="1487999"/>
            <a:ext cx="3804674" cy="17753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95010" y="3585518"/>
            <a:ext cx="3819675" cy="685800"/>
          </a:xfrm>
        </p:spPr>
        <p:txBody>
          <a:bodyPr anchor="ctr">
            <a:noAutofit/>
          </a:bodyPr>
          <a:lstStyle>
            <a:lvl1pPr marL="0" indent="0" algn="l">
              <a:lnSpc>
                <a:spcPct val="100000"/>
              </a:lnSpc>
              <a:buNone/>
              <a:defRPr sz="18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95010" y="4270332"/>
            <a:ext cx="3819675" cy="178541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838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Group 75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77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8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9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0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1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2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3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4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5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6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0" name="Group 39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1" name="Rectangle 40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Rectangle 42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2464952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8392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58170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Group 86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8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6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7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42" name="Group 4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3" name="Rectangle 42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5" name="Rectangle 44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5554" y="2349924"/>
            <a:ext cx="3112047" cy="1225399"/>
          </a:xfrm>
        </p:spPr>
        <p:txBody>
          <a:bodyPr bIns="0" anchor="b">
            <a:noAutofit/>
          </a:bodyPr>
          <a:lstStyle>
            <a:lvl1pPr algn="ctr">
              <a:defRPr sz="28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15686" y="801390"/>
            <a:ext cx="4095643" cy="5249495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5554" y="3575324"/>
            <a:ext cx="3112047" cy="1239552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95403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9" name="Group 428"/>
          <p:cNvGrpSpPr/>
          <p:nvPr/>
        </p:nvGrpSpPr>
        <p:grpSpPr>
          <a:xfrm>
            <a:off x="0" y="0"/>
            <a:ext cx="9555163" cy="6853238"/>
            <a:chOff x="1524000" y="0"/>
            <a:chExt cx="9555163" cy="6853238"/>
          </a:xfrm>
        </p:grpSpPr>
        <p:sp>
          <p:nvSpPr>
            <p:cNvPr id="430" name="Freeform 6"/>
            <p:cNvSpPr/>
            <p:nvPr/>
          </p:nvSpPr>
          <p:spPr bwMode="auto">
            <a:xfrm>
              <a:off x="1524000" y="1331913"/>
              <a:ext cx="7837488" cy="5521325"/>
            </a:xfrm>
            <a:custGeom>
              <a:avLst/>
              <a:gdLst/>
              <a:ahLst/>
              <a:cxnLst/>
              <a:rect l="0" t="0" r="r" b="b"/>
              <a:pathLst>
                <a:path w="1648" h="1161">
                  <a:moveTo>
                    <a:pt x="1362" y="1161"/>
                  </a:moveTo>
                  <a:cubicBezTo>
                    <a:pt x="1648" y="920"/>
                    <a:pt x="1283" y="505"/>
                    <a:pt x="1097" y="326"/>
                  </a:cubicBezTo>
                  <a:cubicBezTo>
                    <a:pt x="926" y="162"/>
                    <a:pt x="709" y="35"/>
                    <a:pt x="470" y="14"/>
                  </a:cubicBezTo>
                  <a:cubicBezTo>
                    <a:pt x="315" y="0"/>
                    <a:pt x="142" y="49"/>
                    <a:pt x="0" y="138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1" name="Freeform 7"/>
            <p:cNvSpPr/>
            <p:nvPr/>
          </p:nvSpPr>
          <p:spPr bwMode="auto">
            <a:xfrm>
              <a:off x="1524000" y="5564188"/>
              <a:ext cx="1412875" cy="1284288"/>
            </a:xfrm>
            <a:custGeom>
              <a:avLst/>
              <a:gdLst/>
              <a:ahLst/>
              <a:cxnLst/>
              <a:rect l="0" t="0" r="r" b="b"/>
              <a:pathLst>
                <a:path w="297" h="270">
                  <a:moveTo>
                    <a:pt x="0" y="0"/>
                  </a:moveTo>
                  <a:cubicBezTo>
                    <a:pt x="73" y="119"/>
                    <a:pt x="186" y="220"/>
                    <a:pt x="297" y="27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2" name="Freeform 8"/>
            <p:cNvSpPr/>
            <p:nvPr/>
          </p:nvSpPr>
          <p:spPr bwMode="auto">
            <a:xfrm>
              <a:off x="1524000" y="2030413"/>
              <a:ext cx="6510338" cy="4813300"/>
            </a:xfrm>
            <a:custGeom>
              <a:avLst/>
              <a:gdLst/>
              <a:ahLst/>
              <a:cxnLst/>
              <a:rect l="0" t="0" r="r" b="b"/>
              <a:pathLst>
                <a:path w="1369" h="1012">
                  <a:moveTo>
                    <a:pt x="845" y="1012"/>
                  </a:moveTo>
                  <a:cubicBezTo>
                    <a:pt x="1043" y="967"/>
                    <a:pt x="1369" y="853"/>
                    <a:pt x="1263" y="588"/>
                  </a:cubicBezTo>
                  <a:cubicBezTo>
                    <a:pt x="1164" y="340"/>
                    <a:pt x="861" y="107"/>
                    <a:pt x="602" y="49"/>
                  </a:cubicBezTo>
                  <a:cubicBezTo>
                    <a:pt x="383" y="0"/>
                    <a:pt x="135" y="97"/>
                    <a:pt x="0" y="28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3" name="Freeform 9"/>
            <p:cNvSpPr/>
            <p:nvPr/>
          </p:nvSpPr>
          <p:spPr bwMode="auto">
            <a:xfrm>
              <a:off x="1528763" y="6207125"/>
              <a:ext cx="717550" cy="646113"/>
            </a:xfrm>
            <a:custGeom>
              <a:avLst/>
              <a:gdLst/>
              <a:ahLst/>
              <a:cxnLst/>
              <a:rect l="0" t="0" r="r" b="b"/>
              <a:pathLst>
                <a:path w="151" h="136">
                  <a:moveTo>
                    <a:pt x="0" y="0"/>
                  </a:moveTo>
                  <a:cubicBezTo>
                    <a:pt x="45" y="52"/>
                    <a:pt x="97" y="99"/>
                    <a:pt x="151" y="13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4" name="Freeform 10"/>
            <p:cNvSpPr/>
            <p:nvPr/>
          </p:nvSpPr>
          <p:spPr bwMode="auto">
            <a:xfrm>
              <a:off x="1524000" y="1806575"/>
              <a:ext cx="6753225" cy="5046663"/>
            </a:xfrm>
            <a:custGeom>
              <a:avLst/>
              <a:gdLst/>
              <a:ahLst/>
              <a:cxnLst/>
              <a:rect l="0" t="0" r="r" b="b"/>
              <a:pathLst>
                <a:path w="1420" h="1061">
                  <a:moveTo>
                    <a:pt x="1034" y="1061"/>
                  </a:moveTo>
                  <a:cubicBezTo>
                    <a:pt x="1148" y="1019"/>
                    <a:pt x="1283" y="957"/>
                    <a:pt x="1345" y="845"/>
                  </a:cubicBezTo>
                  <a:cubicBezTo>
                    <a:pt x="1420" y="710"/>
                    <a:pt x="1338" y="570"/>
                    <a:pt x="1249" y="466"/>
                  </a:cubicBezTo>
                  <a:cubicBezTo>
                    <a:pt x="1068" y="253"/>
                    <a:pt x="816" y="57"/>
                    <a:pt x="530" y="23"/>
                  </a:cubicBezTo>
                  <a:cubicBezTo>
                    <a:pt x="336" y="0"/>
                    <a:pt x="140" y="87"/>
                    <a:pt x="0" y="22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5" name="Freeform 11"/>
            <p:cNvSpPr/>
            <p:nvPr/>
          </p:nvSpPr>
          <p:spPr bwMode="auto">
            <a:xfrm>
              <a:off x="1524000" y="669925"/>
              <a:ext cx="8797925" cy="6183313"/>
            </a:xfrm>
            <a:custGeom>
              <a:avLst/>
              <a:gdLst/>
              <a:ahLst/>
              <a:cxnLst/>
              <a:rect l="0" t="0" r="r" b="b"/>
              <a:pathLst>
                <a:path w="1850" h="1300">
                  <a:moveTo>
                    <a:pt x="1552" y="1300"/>
                  </a:moveTo>
                  <a:cubicBezTo>
                    <a:pt x="1850" y="1019"/>
                    <a:pt x="1504" y="652"/>
                    <a:pt x="1288" y="447"/>
                  </a:cubicBezTo>
                  <a:cubicBezTo>
                    <a:pt x="1085" y="255"/>
                    <a:pt x="838" y="90"/>
                    <a:pt x="559" y="37"/>
                  </a:cubicBezTo>
                  <a:cubicBezTo>
                    <a:pt x="364" y="0"/>
                    <a:pt x="171" y="40"/>
                    <a:pt x="0" y="131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6" name="Freeform 12"/>
            <p:cNvSpPr/>
            <p:nvPr/>
          </p:nvSpPr>
          <p:spPr bwMode="auto">
            <a:xfrm>
              <a:off x="1524000" y="119063"/>
              <a:ext cx="9555163" cy="6734175"/>
            </a:xfrm>
            <a:custGeom>
              <a:avLst/>
              <a:gdLst/>
              <a:ahLst/>
              <a:cxnLst/>
              <a:rect l="0" t="0" r="r" b="b"/>
              <a:pathLst>
                <a:path w="2009" h="1416">
                  <a:moveTo>
                    <a:pt x="1725" y="1416"/>
                  </a:moveTo>
                  <a:cubicBezTo>
                    <a:pt x="2009" y="1117"/>
                    <a:pt x="1728" y="785"/>
                    <a:pt x="1492" y="565"/>
                  </a:cubicBezTo>
                  <a:cubicBezTo>
                    <a:pt x="1248" y="339"/>
                    <a:pt x="961" y="143"/>
                    <a:pt x="635" y="61"/>
                  </a:cubicBezTo>
                  <a:cubicBezTo>
                    <a:pt x="392" y="0"/>
                    <a:pt x="190" y="18"/>
                    <a:pt x="0" y="10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7" name="Freeform 13"/>
            <p:cNvSpPr/>
            <p:nvPr/>
          </p:nvSpPr>
          <p:spPr bwMode="auto">
            <a:xfrm>
              <a:off x="5419725" y="4763"/>
              <a:ext cx="5216525" cy="5368925"/>
            </a:xfrm>
            <a:custGeom>
              <a:avLst/>
              <a:gdLst/>
              <a:ahLst/>
              <a:cxnLst/>
              <a:rect l="0" t="0" r="r" b="b"/>
              <a:pathLst>
                <a:path w="1097" h="1129">
                  <a:moveTo>
                    <a:pt x="1097" y="1129"/>
                  </a:moveTo>
                  <a:cubicBezTo>
                    <a:pt x="1031" y="909"/>
                    <a:pt x="843" y="701"/>
                    <a:pt x="709" y="551"/>
                  </a:cubicBezTo>
                  <a:cubicBezTo>
                    <a:pt x="509" y="327"/>
                    <a:pt x="274" y="127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8" name="Freeform 15"/>
            <p:cNvSpPr/>
            <p:nvPr/>
          </p:nvSpPr>
          <p:spPr bwMode="auto">
            <a:xfrm>
              <a:off x="5813425" y="4763"/>
              <a:ext cx="4832350" cy="4822825"/>
            </a:xfrm>
            <a:custGeom>
              <a:avLst/>
              <a:gdLst/>
              <a:ahLst/>
              <a:cxnLst/>
              <a:rect l="0" t="0" r="r" b="b"/>
              <a:pathLst>
                <a:path w="1016" h="1014">
                  <a:moveTo>
                    <a:pt x="1016" y="1014"/>
                  </a:moveTo>
                  <a:cubicBezTo>
                    <a:pt x="934" y="849"/>
                    <a:pt x="802" y="697"/>
                    <a:pt x="698" y="577"/>
                  </a:cubicBezTo>
                  <a:cubicBezTo>
                    <a:pt x="500" y="348"/>
                    <a:pt x="270" y="141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39" name="Freeform 16"/>
            <p:cNvSpPr/>
            <p:nvPr/>
          </p:nvSpPr>
          <p:spPr bwMode="auto">
            <a:xfrm>
              <a:off x="6003925" y="4763"/>
              <a:ext cx="4641850" cy="4598988"/>
            </a:xfrm>
            <a:custGeom>
              <a:avLst/>
              <a:gdLst/>
              <a:ahLst/>
              <a:cxnLst/>
              <a:rect l="0" t="0" r="r" b="b"/>
              <a:pathLst>
                <a:path w="976" h="967">
                  <a:moveTo>
                    <a:pt x="976" y="967"/>
                  </a:moveTo>
                  <a:cubicBezTo>
                    <a:pt x="894" y="822"/>
                    <a:pt x="779" y="689"/>
                    <a:pt x="686" y="580"/>
                  </a:cubicBezTo>
                  <a:cubicBezTo>
                    <a:pt x="491" y="352"/>
                    <a:pt x="264" y="145"/>
                    <a:pt x="0" y="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0" name="Freeform 17"/>
            <p:cNvSpPr/>
            <p:nvPr/>
          </p:nvSpPr>
          <p:spPr bwMode="auto">
            <a:xfrm>
              <a:off x="6203950" y="0"/>
              <a:ext cx="4441825" cy="4237038"/>
            </a:xfrm>
            <a:custGeom>
              <a:avLst/>
              <a:gdLst/>
              <a:ahLst/>
              <a:cxnLst/>
              <a:rect l="0" t="0" r="r" b="b"/>
              <a:pathLst>
                <a:path w="934" h="891">
                  <a:moveTo>
                    <a:pt x="934" y="891"/>
                  </a:moveTo>
                  <a:cubicBezTo>
                    <a:pt x="863" y="783"/>
                    <a:pt x="778" y="684"/>
                    <a:pt x="705" y="599"/>
                  </a:cubicBezTo>
                  <a:cubicBezTo>
                    <a:pt x="503" y="365"/>
                    <a:pt x="270" y="152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1" name="Freeform 18"/>
            <p:cNvSpPr/>
            <p:nvPr/>
          </p:nvSpPr>
          <p:spPr bwMode="auto">
            <a:xfrm>
              <a:off x="6456363" y="4763"/>
              <a:ext cx="4179888" cy="3986213"/>
            </a:xfrm>
            <a:custGeom>
              <a:avLst/>
              <a:gdLst/>
              <a:ahLst/>
              <a:cxnLst/>
              <a:rect l="0" t="0" r="r" b="b"/>
              <a:pathLst>
                <a:path w="879" h="838">
                  <a:moveTo>
                    <a:pt x="879" y="838"/>
                  </a:moveTo>
                  <a:cubicBezTo>
                    <a:pt x="821" y="755"/>
                    <a:pt x="756" y="679"/>
                    <a:pt x="698" y="611"/>
                  </a:cubicBezTo>
                  <a:cubicBezTo>
                    <a:pt x="498" y="375"/>
                    <a:pt x="268" y="15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2" name="Freeform 19"/>
            <p:cNvSpPr/>
            <p:nvPr/>
          </p:nvSpPr>
          <p:spPr bwMode="auto">
            <a:xfrm>
              <a:off x="6869113" y="4763"/>
              <a:ext cx="3776663" cy="3838575"/>
            </a:xfrm>
            <a:custGeom>
              <a:avLst/>
              <a:gdLst/>
              <a:ahLst/>
              <a:cxnLst/>
              <a:rect l="0" t="0" r="r" b="b"/>
              <a:pathLst>
                <a:path w="794" h="807">
                  <a:moveTo>
                    <a:pt x="794" y="807"/>
                  </a:moveTo>
                  <a:cubicBezTo>
                    <a:pt x="745" y="739"/>
                    <a:pt x="695" y="676"/>
                    <a:pt x="648" y="617"/>
                  </a:cubicBezTo>
                  <a:cubicBezTo>
                    <a:pt x="462" y="383"/>
                    <a:pt x="248" y="1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3" name="Freeform 20"/>
            <p:cNvSpPr/>
            <p:nvPr/>
          </p:nvSpPr>
          <p:spPr bwMode="auto">
            <a:xfrm>
              <a:off x="8758238" y="4763"/>
              <a:ext cx="1887538" cy="1355725"/>
            </a:xfrm>
            <a:custGeom>
              <a:avLst/>
              <a:gdLst/>
              <a:ahLst/>
              <a:cxnLst/>
              <a:rect l="0" t="0" r="r" b="b"/>
              <a:pathLst>
                <a:path w="397" h="285">
                  <a:moveTo>
                    <a:pt x="397" y="285"/>
                  </a:moveTo>
                  <a:cubicBezTo>
                    <a:pt x="270" y="182"/>
                    <a:pt x="138" y="86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4" name="Freeform 21"/>
            <p:cNvSpPr/>
            <p:nvPr/>
          </p:nvSpPr>
          <p:spPr bwMode="auto">
            <a:xfrm>
              <a:off x="9223375" y="9525"/>
              <a:ext cx="1422400" cy="1108075"/>
            </a:xfrm>
            <a:custGeom>
              <a:avLst/>
              <a:gdLst/>
              <a:ahLst/>
              <a:cxnLst/>
              <a:rect l="0" t="0" r="r" b="b"/>
              <a:pathLst>
                <a:path w="299" h="233">
                  <a:moveTo>
                    <a:pt x="299" y="233"/>
                  </a:moveTo>
                  <a:cubicBezTo>
                    <a:pt x="197" y="145"/>
                    <a:pt x="97" y="68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445" name="Freeform 22"/>
            <p:cNvSpPr/>
            <p:nvPr/>
          </p:nvSpPr>
          <p:spPr bwMode="auto">
            <a:xfrm>
              <a:off x="10009188" y="4763"/>
              <a:ext cx="636588" cy="361950"/>
            </a:xfrm>
            <a:custGeom>
              <a:avLst/>
              <a:gdLst/>
              <a:ahLst/>
              <a:cxnLst/>
              <a:rect l="0" t="0" r="r" b="b"/>
              <a:pathLst>
                <a:path w="134" h="76">
                  <a:moveTo>
                    <a:pt x="0" y="0"/>
                  </a:moveTo>
                  <a:cubicBezTo>
                    <a:pt x="45" y="25"/>
                    <a:pt x="89" y="50"/>
                    <a:pt x="134" y="76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9" name="Group 8"/>
          <p:cNvGrpSpPr/>
          <p:nvPr/>
        </p:nvGrpSpPr>
        <p:grpSpPr>
          <a:xfrm>
            <a:off x="644463" y="1698332"/>
            <a:ext cx="4357752" cy="3470420"/>
            <a:chOff x="644463" y="1698332"/>
            <a:chExt cx="4357752" cy="3470420"/>
          </a:xfrm>
        </p:grpSpPr>
        <p:sp>
          <p:nvSpPr>
            <p:cNvPr id="77" name="Rectangle 76"/>
            <p:cNvSpPr/>
            <p:nvPr/>
          </p:nvSpPr>
          <p:spPr>
            <a:xfrm>
              <a:off x="644463" y="1698332"/>
              <a:ext cx="4357752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9" name="Rectangle 78"/>
            <p:cNvSpPr/>
            <p:nvPr/>
          </p:nvSpPr>
          <p:spPr>
            <a:xfrm>
              <a:off x="644463" y="2274404"/>
              <a:ext cx="43577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27" name="Isosceles Triangle 9"/>
            <p:cNvSpPr/>
            <p:nvPr/>
          </p:nvSpPr>
          <p:spPr>
            <a:xfrm rot="10800000">
              <a:off x="2665346" y="4896349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54676" y="0"/>
            <a:ext cx="3489324" cy="6858000"/>
          </a:xfrm>
          <a:solidFill>
            <a:schemeClr val="bg1">
              <a:lumMod val="65000"/>
              <a:lumOff val="3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585" y="2336402"/>
            <a:ext cx="4197666" cy="1265539"/>
          </a:xfrm>
        </p:spPr>
        <p:txBody>
          <a:bodyPr bIns="0" anchor="b">
            <a:normAutofit/>
          </a:bodyPr>
          <a:lstStyle>
            <a:lvl1pPr>
              <a:defRPr sz="3200"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2314" y="3601941"/>
            <a:ext cx="4199254" cy="1214535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rgbClr val="FFFE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4358641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4315463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06749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roup 84"/>
          <p:cNvGrpSpPr/>
          <p:nvPr/>
        </p:nvGrpSpPr>
        <p:grpSpPr>
          <a:xfrm>
            <a:off x="-286226" y="0"/>
            <a:ext cx="9421759" cy="6858001"/>
            <a:chOff x="1243013" y="0"/>
            <a:chExt cx="9402763" cy="6858001"/>
          </a:xfrm>
        </p:grpSpPr>
        <p:sp>
          <p:nvSpPr>
            <p:cNvPr id="86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7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8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89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0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1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2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3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4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5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6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7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8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99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0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1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2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3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4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105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32" name="Group 31"/>
          <p:cNvGrpSpPr/>
          <p:nvPr/>
        </p:nvGrpSpPr>
        <p:grpSpPr>
          <a:xfrm>
            <a:off x="640080" y="1699589"/>
            <a:ext cx="3286552" cy="3470421"/>
            <a:chOff x="640080" y="1699589"/>
            <a:chExt cx="3286552" cy="3470421"/>
          </a:xfrm>
        </p:grpSpPr>
        <p:sp>
          <p:nvSpPr>
            <p:cNvPr id="42" name="Rectangle 41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3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44" name="Rectangle 43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786" y="2349926"/>
            <a:ext cx="3113815" cy="2472774"/>
          </a:xfrm>
        </p:spPr>
        <p:txBody>
          <a:bodyPr/>
          <a:lstStyle>
            <a:lvl1pPr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15686" y="794719"/>
            <a:ext cx="4095643" cy="52570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7670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roup 50"/>
          <p:cNvGrpSpPr/>
          <p:nvPr/>
        </p:nvGrpSpPr>
        <p:grpSpPr>
          <a:xfrm flipH="1">
            <a:off x="0" y="0"/>
            <a:ext cx="9421759" cy="6858001"/>
            <a:chOff x="1243013" y="0"/>
            <a:chExt cx="9402763" cy="6858001"/>
          </a:xfrm>
        </p:grpSpPr>
        <p:sp>
          <p:nvSpPr>
            <p:cNvPr id="52" name="Freeform 5"/>
            <p:cNvSpPr/>
            <p:nvPr/>
          </p:nvSpPr>
          <p:spPr bwMode="auto">
            <a:xfrm>
              <a:off x="2289175" y="0"/>
              <a:ext cx="3867150" cy="6848475"/>
            </a:xfrm>
            <a:custGeom>
              <a:avLst/>
              <a:gdLst/>
              <a:ahLst/>
              <a:cxnLst/>
              <a:rect l="0" t="0" r="r" b="b"/>
              <a:pathLst>
                <a:path w="813" h="1440">
                  <a:moveTo>
                    <a:pt x="813" y="0"/>
                  </a:moveTo>
                  <a:cubicBezTo>
                    <a:pt x="331" y="221"/>
                    <a:pt x="0" y="1039"/>
                    <a:pt x="43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3" name="Freeform 6"/>
            <p:cNvSpPr/>
            <p:nvPr/>
          </p:nvSpPr>
          <p:spPr bwMode="auto">
            <a:xfrm>
              <a:off x="9604375" y="9525"/>
              <a:ext cx="1041400" cy="328613"/>
            </a:xfrm>
            <a:custGeom>
              <a:avLst/>
              <a:gdLst/>
              <a:ahLst/>
              <a:cxnLst/>
              <a:rect l="0" t="0" r="r" b="b"/>
              <a:pathLst>
                <a:path w="219" h="69">
                  <a:moveTo>
                    <a:pt x="219" y="69"/>
                  </a:moveTo>
                  <a:cubicBezTo>
                    <a:pt x="147" y="41"/>
                    <a:pt x="71" y="19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4" name="Freeform 7"/>
            <p:cNvSpPr/>
            <p:nvPr/>
          </p:nvSpPr>
          <p:spPr bwMode="auto">
            <a:xfrm>
              <a:off x="9223375" y="5578475"/>
              <a:ext cx="1422400" cy="1270000"/>
            </a:xfrm>
            <a:custGeom>
              <a:avLst/>
              <a:gdLst/>
              <a:ahLst/>
              <a:cxnLst/>
              <a:rect l="0" t="0" r="r" b="b"/>
              <a:pathLst>
                <a:path w="299" h="267">
                  <a:moveTo>
                    <a:pt x="0" y="267"/>
                  </a:moveTo>
                  <a:cubicBezTo>
                    <a:pt x="105" y="186"/>
                    <a:pt x="206" y="96"/>
                    <a:pt x="299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5" name="Freeform 8"/>
            <p:cNvSpPr/>
            <p:nvPr/>
          </p:nvSpPr>
          <p:spPr bwMode="auto">
            <a:xfrm>
              <a:off x="2103438" y="0"/>
              <a:ext cx="3681413" cy="6848475"/>
            </a:xfrm>
            <a:custGeom>
              <a:avLst/>
              <a:gdLst/>
              <a:ahLst/>
              <a:cxnLst/>
              <a:rect l="0" t="0" r="r" b="b"/>
              <a:pathLst>
                <a:path w="774" h="1440">
                  <a:moveTo>
                    <a:pt x="774" y="0"/>
                  </a:moveTo>
                  <a:cubicBezTo>
                    <a:pt x="312" y="240"/>
                    <a:pt x="0" y="1034"/>
                    <a:pt x="411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6" name="Freeform 9"/>
            <p:cNvSpPr/>
            <p:nvPr/>
          </p:nvSpPr>
          <p:spPr bwMode="auto">
            <a:xfrm>
              <a:off x="10179050" y="9525"/>
              <a:ext cx="466725" cy="157163"/>
            </a:xfrm>
            <a:custGeom>
              <a:avLst/>
              <a:gdLst/>
              <a:ahLst/>
              <a:cxnLst/>
              <a:rect l="0" t="0" r="r" b="b"/>
              <a:pathLst>
                <a:path w="98" h="33">
                  <a:moveTo>
                    <a:pt x="98" y="33"/>
                  </a:moveTo>
                  <a:cubicBezTo>
                    <a:pt x="65" y="21"/>
                    <a:pt x="33" y="10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7" name="Freeform 10"/>
            <p:cNvSpPr/>
            <p:nvPr/>
          </p:nvSpPr>
          <p:spPr bwMode="auto">
            <a:xfrm>
              <a:off x="9471025" y="5811838"/>
              <a:ext cx="1174750" cy="1046163"/>
            </a:xfrm>
            <a:custGeom>
              <a:avLst/>
              <a:gdLst/>
              <a:ahLst/>
              <a:cxnLst/>
              <a:rect l="0" t="0" r="r" b="b"/>
              <a:pathLst>
                <a:path w="247" h="220">
                  <a:moveTo>
                    <a:pt x="0" y="220"/>
                  </a:moveTo>
                  <a:cubicBezTo>
                    <a:pt x="86" y="152"/>
                    <a:pt x="169" y="78"/>
                    <a:pt x="247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8" name="Freeform 11"/>
            <p:cNvSpPr/>
            <p:nvPr/>
          </p:nvSpPr>
          <p:spPr bwMode="auto">
            <a:xfrm>
              <a:off x="1985963" y="0"/>
              <a:ext cx="3622675" cy="6848475"/>
            </a:xfrm>
            <a:custGeom>
              <a:avLst/>
              <a:gdLst/>
              <a:ahLst/>
              <a:cxnLst/>
              <a:rect l="0" t="0" r="r" b="b"/>
              <a:pathLst>
                <a:path w="762" h="1440">
                  <a:moveTo>
                    <a:pt x="762" y="0"/>
                  </a:moveTo>
                  <a:cubicBezTo>
                    <a:pt x="308" y="245"/>
                    <a:pt x="0" y="1033"/>
                    <a:pt x="403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59" name="Freeform 12"/>
            <p:cNvSpPr/>
            <p:nvPr/>
          </p:nvSpPr>
          <p:spPr bwMode="auto">
            <a:xfrm>
              <a:off x="10479088" y="9525"/>
              <a:ext cx="166688" cy="57150"/>
            </a:xfrm>
            <a:custGeom>
              <a:avLst/>
              <a:gdLst/>
              <a:ahLst/>
              <a:cxnLst/>
              <a:rect l="0" t="0" r="r" b="b"/>
              <a:pathLst>
                <a:path w="35" h="12">
                  <a:moveTo>
                    <a:pt x="35" y="12"/>
                  </a:moveTo>
                  <a:cubicBezTo>
                    <a:pt x="23" y="8"/>
                    <a:pt x="12" y="4"/>
                    <a:pt x="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0" name="Freeform 13"/>
            <p:cNvSpPr/>
            <p:nvPr/>
          </p:nvSpPr>
          <p:spPr bwMode="auto">
            <a:xfrm>
              <a:off x="9618663" y="5940425"/>
              <a:ext cx="1027113" cy="908050"/>
            </a:xfrm>
            <a:custGeom>
              <a:avLst/>
              <a:gdLst/>
              <a:ahLst/>
              <a:cxnLst/>
              <a:rect l="0" t="0" r="r" b="b"/>
              <a:pathLst>
                <a:path w="216" h="191">
                  <a:moveTo>
                    <a:pt x="0" y="191"/>
                  </a:moveTo>
                  <a:cubicBezTo>
                    <a:pt x="75" y="131"/>
                    <a:pt x="147" y="67"/>
                    <a:pt x="216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1" name="Freeform 14"/>
            <p:cNvSpPr/>
            <p:nvPr/>
          </p:nvSpPr>
          <p:spPr bwMode="auto">
            <a:xfrm>
              <a:off x="1985963" y="0"/>
              <a:ext cx="3248025" cy="6848475"/>
            </a:xfrm>
            <a:custGeom>
              <a:avLst/>
              <a:gdLst/>
              <a:ahLst/>
              <a:cxnLst/>
              <a:rect l="0" t="0" r="r" b="b"/>
              <a:pathLst>
                <a:path w="683" h="1440">
                  <a:moveTo>
                    <a:pt x="683" y="0"/>
                  </a:moveTo>
                  <a:cubicBezTo>
                    <a:pt x="258" y="256"/>
                    <a:pt x="0" y="1041"/>
                    <a:pt x="355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2" name="Freeform 15"/>
            <p:cNvSpPr/>
            <p:nvPr/>
          </p:nvSpPr>
          <p:spPr bwMode="auto">
            <a:xfrm>
              <a:off x="9780588" y="6054725"/>
              <a:ext cx="865188" cy="793750"/>
            </a:xfrm>
            <a:custGeom>
              <a:avLst/>
              <a:gdLst/>
              <a:ahLst/>
              <a:cxnLst/>
              <a:rect l="0" t="0" r="r" b="b"/>
              <a:pathLst>
                <a:path w="182" h="167">
                  <a:moveTo>
                    <a:pt x="0" y="167"/>
                  </a:moveTo>
                  <a:cubicBezTo>
                    <a:pt x="63" y="114"/>
                    <a:pt x="123" y="58"/>
                    <a:pt x="182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3" name="Freeform 16"/>
            <p:cNvSpPr/>
            <p:nvPr/>
          </p:nvSpPr>
          <p:spPr bwMode="auto">
            <a:xfrm>
              <a:off x="1871663" y="0"/>
              <a:ext cx="3233738" cy="6848475"/>
            </a:xfrm>
            <a:custGeom>
              <a:avLst/>
              <a:gdLst/>
              <a:ahLst/>
              <a:cxnLst/>
              <a:rect l="0" t="0" r="r" b="b"/>
              <a:pathLst>
                <a:path w="680" h="1440">
                  <a:moveTo>
                    <a:pt x="680" y="0"/>
                  </a:moveTo>
                  <a:cubicBezTo>
                    <a:pt x="257" y="265"/>
                    <a:pt x="0" y="1026"/>
                    <a:pt x="337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4" name="Freeform 17"/>
            <p:cNvSpPr/>
            <p:nvPr/>
          </p:nvSpPr>
          <p:spPr bwMode="auto">
            <a:xfrm>
              <a:off x="9956800" y="6216650"/>
              <a:ext cx="688975" cy="631825"/>
            </a:xfrm>
            <a:custGeom>
              <a:avLst/>
              <a:gdLst/>
              <a:ahLst/>
              <a:cxnLst/>
              <a:rect l="0" t="0" r="r" b="b"/>
              <a:pathLst>
                <a:path w="145" h="133">
                  <a:moveTo>
                    <a:pt x="0" y="133"/>
                  </a:moveTo>
                  <a:cubicBezTo>
                    <a:pt x="50" y="90"/>
                    <a:pt x="98" y="46"/>
                    <a:pt x="145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5" name="Freeform 18"/>
            <p:cNvSpPr/>
            <p:nvPr/>
          </p:nvSpPr>
          <p:spPr bwMode="auto">
            <a:xfrm>
              <a:off x="1466850" y="0"/>
              <a:ext cx="3424238" cy="6848475"/>
            </a:xfrm>
            <a:custGeom>
              <a:avLst/>
              <a:gdLst/>
              <a:ahLst/>
              <a:cxnLst/>
              <a:rect l="0" t="0" r="r" b="b"/>
              <a:pathLst>
                <a:path w="720" h="1440">
                  <a:moveTo>
                    <a:pt x="720" y="0"/>
                  </a:moveTo>
                  <a:cubicBezTo>
                    <a:pt x="316" y="282"/>
                    <a:pt x="0" y="1018"/>
                    <a:pt x="362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6" name="Freeform 19"/>
            <p:cNvSpPr/>
            <p:nvPr/>
          </p:nvSpPr>
          <p:spPr bwMode="auto">
            <a:xfrm>
              <a:off x="10264775" y="6519863"/>
              <a:ext cx="381000" cy="328613"/>
            </a:xfrm>
            <a:custGeom>
              <a:avLst/>
              <a:gdLst/>
              <a:ahLst/>
              <a:cxnLst/>
              <a:rect l="0" t="0" r="r" b="b"/>
              <a:pathLst>
                <a:path w="80" h="69">
                  <a:moveTo>
                    <a:pt x="0" y="69"/>
                  </a:moveTo>
                  <a:cubicBezTo>
                    <a:pt x="27" y="47"/>
                    <a:pt x="53" y="24"/>
                    <a:pt x="80" y="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7" name="Freeform 20"/>
            <p:cNvSpPr/>
            <p:nvPr/>
          </p:nvSpPr>
          <p:spPr bwMode="auto">
            <a:xfrm>
              <a:off x="1581150" y="0"/>
              <a:ext cx="2720975" cy="6848475"/>
            </a:xfrm>
            <a:custGeom>
              <a:avLst/>
              <a:gdLst/>
              <a:ahLst/>
              <a:cxnLst/>
              <a:rect l="0" t="0" r="r" b="b"/>
              <a:pathLst>
                <a:path w="572" h="1440">
                  <a:moveTo>
                    <a:pt x="572" y="0"/>
                  </a:moveTo>
                  <a:cubicBezTo>
                    <a:pt x="213" y="320"/>
                    <a:pt x="0" y="979"/>
                    <a:pt x="164" y="1440"/>
                  </a:cubicBezTo>
                </a:path>
              </a:pathLst>
            </a:custGeom>
            <a:noFill/>
            <a:ln w="12700" cap="flat">
              <a:solidFill>
                <a:schemeClr val="tx1">
                  <a:alpha val="20000"/>
                </a:schemeClr>
              </a:solidFill>
              <a:prstDash val="dash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8" name="Freeform 21"/>
            <p:cNvSpPr/>
            <p:nvPr/>
          </p:nvSpPr>
          <p:spPr bwMode="auto">
            <a:xfrm>
              <a:off x="1243013" y="0"/>
              <a:ext cx="2949575" cy="6848475"/>
            </a:xfrm>
            <a:custGeom>
              <a:avLst/>
              <a:gdLst/>
              <a:ahLst/>
              <a:cxnLst/>
              <a:rect l="0" t="0" r="r" b="b"/>
              <a:pathLst>
                <a:path w="620" h="1440">
                  <a:moveTo>
                    <a:pt x="620" y="0"/>
                  </a:moveTo>
                  <a:cubicBezTo>
                    <a:pt x="248" y="325"/>
                    <a:pt x="0" y="960"/>
                    <a:pt x="186" y="1440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lgDash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69" name="Freeform 22"/>
            <p:cNvSpPr/>
            <p:nvPr/>
          </p:nvSpPr>
          <p:spPr bwMode="auto">
            <a:xfrm>
              <a:off x="1524000" y="0"/>
              <a:ext cx="1446213" cy="2030413"/>
            </a:xfrm>
            <a:custGeom>
              <a:avLst/>
              <a:gdLst/>
              <a:ahLst/>
              <a:cxnLst/>
              <a:rect l="0" t="0" r="r" b="b"/>
              <a:pathLst>
                <a:path w="304" h="427">
                  <a:moveTo>
                    <a:pt x="304" y="0"/>
                  </a:moveTo>
                  <a:cubicBezTo>
                    <a:pt x="170" y="120"/>
                    <a:pt x="69" y="267"/>
                    <a:pt x="0" y="427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0" name="Freeform 23"/>
            <p:cNvSpPr/>
            <p:nvPr/>
          </p:nvSpPr>
          <p:spPr bwMode="auto">
            <a:xfrm>
              <a:off x="1524000" y="9525"/>
              <a:ext cx="1246188" cy="1641475"/>
            </a:xfrm>
            <a:custGeom>
              <a:avLst/>
              <a:gdLst/>
              <a:ahLst/>
              <a:cxnLst/>
              <a:rect l="0" t="0" r="r" b="b"/>
              <a:pathLst>
                <a:path w="262" h="345">
                  <a:moveTo>
                    <a:pt x="262" y="0"/>
                  </a:moveTo>
                  <a:cubicBezTo>
                    <a:pt x="152" y="102"/>
                    <a:pt x="65" y="217"/>
                    <a:pt x="0" y="34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  <p:sp>
          <p:nvSpPr>
            <p:cNvPr id="71" name="Freeform 24"/>
            <p:cNvSpPr/>
            <p:nvPr/>
          </p:nvSpPr>
          <p:spPr bwMode="auto">
            <a:xfrm>
              <a:off x="1524000" y="0"/>
              <a:ext cx="1036638" cy="1212850"/>
            </a:xfrm>
            <a:custGeom>
              <a:avLst/>
              <a:gdLst/>
              <a:ahLst/>
              <a:cxnLst/>
              <a:rect l="0" t="0" r="r" b="b"/>
              <a:pathLst>
                <a:path w="218" h="255">
                  <a:moveTo>
                    <a:pt x="218" y="0"/>
                  </a:moveTo>
                  <a:cubicBezTo>
                    <a:pt x="137" y="77"/>
                    <a:pt x="62" y="162"/>
                    <a:pt x="0" y="255"/>
                  </a:cubicBezTo>
                </a:path>
              </a:pathLst>
            </a:custGeom>
            <a:noFill/>
            <a:ln w="9525" cap="flat">
              <a:solidFill>
                <a:schemeClr val="tx1">
                  <a:alpha val="2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sp>
      </p:grpSp>
      <p:grpSp>
        <p:nvGrpSpPr>
          <p:cNvPr id="85" name="Group 84"/>
          <p:cNvGrpSpPr/>
          <p:nvPr/>
        </p:nvGrpSpPr>
        <p:grpSpPr>
          <a:xfrm>
            <a:off x="5228134" y="1699589"/>
            <a:ext cx="3286552" cy="3470421"/>
            <a:chOff x="640080" y="1699589"/>
            <a:chExt cx="3286552" cy="3470421"/>
          </a:xfrm>
        </p:grpSpPr>
        <p:sp>
          <p:nvSpPr>
            <p:cNvPr id="86" name="Rectangle 85"/>
            <p:cNvSpPr/>
            <p:nvPr/>
          </p:nvSpPr>
          <p:spPr>
            <a:xfrm>
              <a:off x="644453" y="1699589"/>
              <a:ext cx="3277806" cy="5029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7" name="Isosceles Triangle 22"/>
            <p:cNvSpPr/>
            <p:nvPr/>
          </p:nvSpPr>
          <p:spPr>
            <a:xfrm rot="10800000">
              <a:off x="2125363" y="4897607"/>
              <a:ext cx="315988" cy="272403"/>
            </a:xfrm>
            <a:prstGeom prst="triangl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88" name="Rectangle 87"/>
            <p:cNvSpPr/>
            <p:nvPr/>
          </p:nvSpPr>
          <p:spPr>
            <a:xfrm>
              <a:off x="640080" y="2275661"/>
              <a:ext cx="3286552" cy="262432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313609" y="2349924"/>
            <a:ext cx="3112047" cy="2464951"/>
          </a:xfrm>
        </p:spPr>
        <p:txBody>
          <a:bodyPr vert="eaVert"/>
          <a:lstStyle>
            <a:lvl1pPr algn="l">
              <a:lnSpc>
                <a:spcPct val="80000"/>
              </a:lnSpc>
              <a:defRPr>
                <a:solidFill>
                  <a:srgbClr val="FFFE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43258" y="802808"/>
            <a:ext cx="4118291" cy="525480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" y="320040"/>
            <a:ext cx="2743200" cy="32004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40080" y="6227064"/>
            <a:ext cx="7854696" cy="32004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808976" y="320040"/>
            <a:ext cx="685800" cy="32004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82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25554" y="2349925"/>
            <a:ext cx="3112047" cy="2464952"/>
          </a:xfrm>
          <a:prstGeom prst="rect">
            <a:avLst/>
          </a:prstGeom>
        </p:spPr>
        <p:txBody>
          <a:bodyPr vert="horz" lIns="228600" tIns="228600" rIns="228600" bIns="22860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15687" y="794719"/>
            <a:ext cx="4079089" cy="525709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40080" y="320040"/>
            <a:ext cx="27432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40080" y="6227064"/>
            <a:ext cx="7854696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08976" y="320040"/>
            <a:ext cx="685800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826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685800" rtl="0" eaLnBrk="1" latinLnBrk="0" hangingPunct="1">
        <a:lnSpc>
          <a:spcPct val="85000"/>
        </a:lnSpc>
        <a:spcBef>
          <a:spcPct val="0"/>
        </a:spcBef>
        <a:buNone/>
        <a:defRPr sz="3200" b="0" i="0" kern="1200" cap="none" spc="-113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20000"/>
        </a:lnSpc>
        <a:spcBef>
          <a:spcPts val="750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400" kern="120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120000"/>
        </a:lnSpc>
        <a:spcBef>
          <a:spcPts val="375"/>
        </a:spcBef>
        <a:buClr>
          <a:schemeClr val="accent1"/>
        </a:buClr>
        <a:buSzPct val="110000"/>
        <a:buFont typeface="Wingdings" panose="05000000000000000000" pitchFamily="2" charset="2"/>
        <a:buChar char="§"/>
        <a:defRPr sz="900" kern="120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Title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K-Means Clustering on Iris Dataset</a:t>
            </a:r>
          </a:p>
          <a:p>
            <a:r>
              <a:t>Using Sepal Length &amp; Sepal Width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Iris Dataset</a:t>
            </a:r>
          </a:p>
          <a:p>
            <a:r>
              <a:t>• 150 samples</a:t>
            </a:r>
          </a:p>
          <a:p>
            <a:r>
              <a:t>• 3 Species</a:t>
            </a:r>
          </a:p>
          <a:p>
            <a:r>
              <a:t>• Unsupervised Learning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Apply K-Means</a:t>
            </a:r>
          </a:p>
          <a:p>
            <a:r>
              <a:t>• Divide into 3 clusters</a:t>
            </a:r>
          </a:p>
          <a:p>
            <a:r>
              <a:t>• Analyze grouping pattern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Sepal Length</a:t>
            </a:r>
          </a:p>
          <a:p>
            <a:r>
              <a:t>• Sepal Width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Algorithm - K 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Initialize Centroids</a:t>
            </a:r>
          </a:p>
          <a:p>
            <a:r>
              <a:t>2. Assign Points to nearest centroid</a:t>
            </a:r>
          </a:p>
          <a:p>
            <a:r>
              <a:t>3. Update Centroids</a:t>
            </a:r>
          </a:p>
          <a:p>
            <a:r>
              <a:t>4. Repeat until convergence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Implementation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Import Libraries</a:t>
            </a:r>
          </a:p>
          <a:p>
            <a:r>
              <a:t>• Load Dataset</a:t>
            </a:r>
          </a:p>
          <a:p>
            <a:r>
              <a:t>• Select Features</a:t>
            </a:r>
          </a:p>
          <a:p>
            <a:r>
              <a:t>• Apply KMeans(n_clusters=3)</a:t>
            </a:r>
          </a:p>
          <a:p>
            <a:r>
              <a:t>• Predict Clusters</a:t>
            </a:r>
          </a:p>
          <a:p>
            <a:r>
              <a:t>• Plot Scatter Graph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divided into 3 clusters</a:t>
            </a:r>
          </a:p>
          <a:p>
            <a:r>
              <a:t>• Clear separation observed</a:t>
            </a:r>
          </a:p>
          <a:p>
            <a:r>
              <a:t>• Closely matches actual species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K-Means works effectively</a:t>
            </a:r>
          </a:p>
          <a:p>
            <a:r>
              <a:t>• Simple and powerful algorithm</a:t>
            </a:r>
          </a:p>
          <a:p>
            <a:r>
              <a:t>• Useful for unsupervised tasks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tlas">
  <a:themeElements>
    <a:clrScheme name="Atlas">
      <a:dk1>
        <a:sysClr val="windowText" lastClr="000000"/>
      </a:dk1>
      <a:lt1>
        <a:sysClr val="window" lastClr="FFFFFF"/>
      </a:lt1>
      <a:dk2>
        <a:srgbClr val="454545"/>
      </a:dk2>
      <a:lt2>
        <a:srgbClr val="E0E0E0"/>
      </a:lt2>
      <a:accent1>
        <a:srgbClr val="F81B02"/>
      </a:accent1>
      <a:accent2>
        <a:srgbClr val="FC7715"/>
      </a:accent2>
      <a:accent3>
        <a:srgbClr val="AFBF41"/>
      </a:accent3>
      <a:accent4>
        <a:srgbClr val="50C49F"/>
      </a:accent4>
      <a:accent5>
        <a:srgbClr val="3B95C4"/>
      </a:accent5>
      <a:accent6>
        <a:srgbClr val="B560D4"/>
      </a:accent6>
      <a:hlink>
        <a:srgbClr val="FC5A1A"/>
      </a:hlink>
      <a:folHlink>
        <a:srgbClr val="B49E74"/>
      </a:folHlink>
    </a:clrScheme>
    <a:fontScheme name="Atlas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las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alpha val="60000"/>
                <a:satMod val="109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4000"/>
                <a:satMod val="130000"/>
                <a:lumMod val="92000"/>
              </a:schemeClr>
            </a:gs>
            <a:gs pos="100000">
              <a:schemeClr val="phClr">
                <a:shade val="76000"/>
                <a:satMod val="130000"/>
                <a:lumMod val="88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0000"/>
            </a:schemeClr>
          </a:solidFill>
          <a:prstDash val="solid"/>
        </a:ln>
        <a:ln w="15875" cap="flat" cmpd="sng" algn="ctr">
          <a:solidFill>
            <a:schemeClr val="phClr">
              <a:shade val="9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>
            <a:bevelT w="0" h="0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10000">
              <a:schemeClr val="phClr">
                <a:tint val="94000"/>
                <a:lumMod val="116000"/>
              </a:schemeClr>
            </a:gs>
            <a:gs pos="100000">
              <a:schemeClr val="phClr">
                <a:tint val="98000"/>
                <a:shade val="86000"/>
                <a:satMod val="90000"/>
                <a:lumMod val="88000"/>
              </a:schemeClr>
            </a:gs>
          </a:gsLst>
          <a:path path="circle">
            <a:fillToRect l="50000" t="15000" r="50000" b="169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Atlas" id="{5156B0E4-0EB1-49FE-A26B-15F6F698AEC6}" vid="{508F7963-D0B5-43F7-BB2C-FCE3009C08E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Atlas</Template>
  <TotalTime>2</TotalTime>
  <Words>130</Words>
  <Application>Microsoft Office PowerPoint</Application>
  <PresentationFormat>On-screen Show (4:3)</PresentationFormat>
  <Paragraphs>35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Calibri Light</vt:lpstr>
      <vt:lpstr>Rockwell</vt:lpstr>
      <vt:lpstr>Wingdings</vt:lpstr>
      <vt:lpstr>Atlas</vt:lpstr>
      <vt:lpstr>Title Slide</vt:lpstr>
      <vt:lpstr>Introduction</vt:lpstr>
      <vt:lpstr>Objective</vt:lpstr>
      <vt:lpstr>Features Used</vt:lpstr>
      <vt:lpstr>Algorithm - K Means</vt:lpstr>
      <vt:lpstr>Implementation Steps</vt:lpstr>
      <vt:lpstr>Results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Ashwin Kumar</cp:lastModifiedBy>
  <cp:revision>2</cp:revision>
  <dcterms:created xsi:type="dcterms:W3CDTF">2013-01-27T09:14:16Z</dcterms:created>
  <dcterms:modified xsi:type="dcterms:W3CDTF">2026-02-19T18:22:06Z</dcterms:modified>
  <cp:category/>
</cp:coreProperties>
</file>